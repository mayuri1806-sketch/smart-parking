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1" r:id="rId6"/>
    <p:sldId id="279" r:id="rId7"/>
    <p:sldId id="281" r:id="rId8"/>
    <p:sldId id="280" r:id="rId9"/>
    <p:sldId id="257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Morph, Annotate, Work Together, Tell Me" id="{B9B51309-D148-4332-87C2-07BE32FBCA3B}">
          <p14:sldIdLst>
            <p14:sldId id="271"/>
            <p14:sldId id="279"/>
            <p14:sldId id="281"/>
            <p14:sldId id="280"/>
            <p14:sldId id="257"/>
            <p14:sldId id="275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726" autoAdjust="0"/>
  </p:normalViewPr>
  <p:slideViewPr>
    <p:cSldViewPr snapToGrid="0">
      <p:cViewPr varScale="1">
        <p:scale>
          <a:sx n="82" d="100"/>
          <a:sy n="82" d="100"/>
        </p:scale>
        <p:origin x="672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yuri Vittamsetti" userId="33b0bca2385e9cd1" providerId="LiveId" clId="{337E08B6-366C-46E8-817D-75480B36B8D1}"/>
    <pc:docChg chg="undo custSel modSld">
      <pc:chgData name="Mayuri Vittamsetti" userId="33b0bca2385e9cd1" providerId="LiveId" clId="{337E08B6-366C-46E8-817D-75480B36B8D1}" dt="2026-10-03T08:30:12.664" v="37" actId="732"/>
      <pc:docMkLst>
        <pc:docMk/>
      </pc:docMkLst>
      <pc:sldChg chg="addSp delSp modSp mod">
        <pc:chgData name="Mayuri Vittamsetti" userId="33b0bca2385e9cd1" providerId="LiveId" clId="{337E08B6-366C-46E8-817D-75480B36B8D1}" dt="2026-10-03T08:30:12.664" v="37" actId="732"/>
        <pc:sldMkLst>
          <pc:docMk/>
          <pc:sldMk cId="2471807738" sldId="256"/>
        </pc:sldMkLst>
        <pc:spChg chg="del mod">
          <ac:chgData name="Mayuri Vittamsetti" userId="33b0bca2385e9cd1" providerId="LiveId" clId="{337E08B6-366C-46E8-817D-75480B36B8D1}" dt="2026-10-03T08:29:37.022" v="30" actId="478"/>
          <ac:spMkLst>
            <pc:docMk/>
            <pc:sldMk cId="2471807738" sldId="256"/>
            <ac:spMk id="2" creationId="{00000000-0000-0000-0000-000000000000}"/>
          </ac:spMkLst>
        </pc:spChg>
        <pc:spChg chg="mod">
          <ac:chgData name="Mayuri Vittamsetti" userId="33b0bca2385e9cd1" providerId="LiveId" clId="{337E08B6-366C-46E8-817D-75480B36B8D1}" dt="2026-10-03T07:31:42.648" v="6" actId="20577"/>
          <ac:spMkLst>
            <pc:docMk/>
            <pc:sldMk cId="2471807738" sldId="256"/>
            <ac:spMk id="5" creationId="{DF53DBD0-1E93-AE64-D76F-39350004A5D3}"/>
          </ac:spMkLst>
        </pc:spChg>
        <pc:picChg chg="add mod modCrop">
          <ac:chgData name="Mayuri Vittamsetti" userId="33b0bca2385e9cd1" providerId="LiveId" clId="{337E08B6-366C-46E8-817D-75480B36B8D1}" dt="2026-10-03T08:30:12.664" v="37" actId="732"/>
          <ac:picMkLst>
            <pc:docMk/>
            <pc:sldMk cId="2471807738" sldId="256"/>
            <ac:picMk id="4" creationId="{B1B06E5F-E736-FA9A-BF2F-AC81742A0FD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53DBD0-1E93-AE64-D76F-39350004A5D3}"/>
              </a:ext>
            </a:extLst>
          </p:cNvPr>
          <p:cNvSpPr txBox="1"/>
          <p:nvPr/>
        </p:nvSpPr>
        <p:spPr>
          <a:xfrm>
            <a:off x="391886" y="1327884"/>
            <a:ext cx="10066867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PROJECT TITLE </a:t>
            </a: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: SMART PARKING</a:t>
            </a:r>
          </a:p>
          <a:p>
            <a:endParaRPr lang="en-IN" sz="16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IN" sz="16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ONE – LINE IDEA </a:t>
            </a: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: </a:t>
            </a:r>
            <a:r>
              <a:rPr lang="en-IN" sz="16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“Smart Parking Slot Allocator: An intelligent DAA-based system that finds the right parking slot faster using Priority Queue, Binary Search, and Greedy algorithms.”</a:t>
            </a:r>
          </a:p>
          <a:p>
            <a:endParaRPr lang="en-IN" sz="1600" b="1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IN" sz="16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TEAM MEMBERS </a:t>
            </a: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A.KAVERI – 25MVCSMR0096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B.AKSHITHA REDDY - 25MVCSMR0107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R.PRAVALLIKA - 25MVCSMR0168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V.MAYURI- 25MVCSMR0183</a:t>
            </a:r>
          </a:p>
          <a:p>
            <a:r>
              <a:rPr lang="en-IN" sz="16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The problem domain of the above project is:</a:t>
            </a:r>
          </a:p>
          <a:p>
            <a:r>
              <a:rPr lang="en-IN" sz="16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en-IN" sz="20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Smart Parking Management / Intelligent Transportation Systems (ITS)</a:t>
            </a:r>
          </a:p>
          <a:p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It focuses on </a:t>
            </a:r>
            <a:r>
              <a:rPr lang="en-IN" sz="16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automating and optimizing parking slot allocation</a:t>
            </a: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based on factors such as: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Vehicle size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Distance from the entrance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Slot availability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Priority of vehicles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Fast slot searching</a:t>
            </a:r>
          </a:p>
          <a:p>
            <a:pPr lvl="0"/>
            <a:endParaRPr lang="en-IN" sz="16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IN" sz="16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In one line:</a:t>
            </a:r>
            <a:endParaRPr lang="en-IN" sz="16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r>
              <a:rPr lang="en-IN" sz="16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Problem Domain: Smart Parking Management using Data Structures and Design &amp; Analysis of Algorithms (DAA).</a:t>
            </a:r>
            <a:endParaRPr lang="en-IN" sz="16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endParaRPr lang="en-IN" sz="16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B06E5F-E736-FA9A-BF2F-AC81742A0F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468"/>
          <a:stretch>
            <a:fillRect/>
          </a:stretch>
        </p:blipFill>
        <p:spPr>
          <a:xfrm>
            <a:off x="1324947" y="127400"/>
            <a:ext cx="9892004" cy="111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latin typeface="Arial Rounded MT Bold" panose="020F0704030504030204" pitchFamily="34" charset="0"/>
                <a:cs typeface="Segoe UI Light" panose="020B0502040204020203" pitchFamily="34" charset="0"/>
              </a:rPr>
              <a:t>THE CHALLENGE</a:t>
            </a: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10" y="1524708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80348-43F9-5C22-AB30-AEE8D4F4C3FD}"/>
              </a:ext>
            </a:extLst>
          </p:cNvPr>
          <p:cNvSpPr txBox="1"/>
          <p:nvPr/>
        </p:nvSpPr>
        <p:spPr>
          <a:xfrm>
            <a:off x="541611" y="1397000"/>
            <a:ext cx="1040579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Real-World Problem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Drivers often spend significant time searching for available parking spaces.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Parking slots may not match the </a:t>
            </a:r>
            <a:r>
              <a:rPr lang="en-IN" sz="1600" b="1" dirty="0"/>
              <a:t>size of the vehicle</a:t>
            </a:r>
            <a:r>
              <a:rPr lang="en-IN" sz="16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The nearest or most suitable slot may be difficult to identify quickly.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Manual parking allocation can lead to inefficient use of available spaces.</a:t>
            </a:r>
          </a:p>
          <a:p>
            <a:r>
              <a:rPr lang="en-IN" sz="1600" b="1" dirty="0"/>
              <a:t> Why It Matters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Reduces </a:t>
            </a:r>
            <a:r>
              <a:rPr lang="en-IN" sz="1600" b="1" dirty="0"/>
              <a:t>parking search time</a:t>
            </a:r>
            <a:r>
              <a:rPr lang="en-IN" sz="1600" dirty="0"/>
              <a:t> and unnecessary vehicle movement.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Makes better use of limited parking space.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Improves the overall </a:t>
            </a:r>
            <a:r>
              <a:rPr lang="en-IN" sz="1600" b="1" dirty="0"/>
              <a:t>parking experience and efficiency</a:t>
            </a:r>
            <a:r>
              <a:rPr lang="en-IN" sz="16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Helps prioritize vehicles and allocate suitable slots automatically.</a:t>
            </a:r>
          </a:p>
          <a:p>
            <a:r>
              <a:rPr lang="en-IN" sz="1600" b="1" dirty="0"/>
              <a:t> Key Challenges Faced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Handling </a:t>
            </a:r>
            <a:r>
              <a:rPr lang="en-IN" sz="1600" b="1" dirty="0"/>
              <a:t>multiple vehicles and parking slots</a:t>
            </a:r>
            <a:r>
              <a:rPr lang="en-IN" sz="1600" dirty="0"/>
              <a:t> simultaneously.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Selecting slots based on </a:t>
            </a:r>
            <a:r>
              <a:rPr lang="en-IN" sz="1600" b="1" dirty="0"/>
              <a:t>size, distance, availability, and priority</a:t>
            </a:r>
            <a:r>
              <a:rPr lang="en-IN" sz="16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Finding suitable slots quickly as the number of slots increases.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Balancing </a:t>
            </a:r>
            <a:r>
              <a:rPr lang="en-IN" sz="1600" b="1" dirty="0"/>
              <a:t>fast searching</a:t>
            </a:r>
            <a:r>
              <a:rPr lang="en-IN" sz="1600" dirty="0"/>
              <a:t> with efficient allocation.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Updating the system whenever a slot becomes occupied or free.</a:t>
            </a:r>
          </a:p>
          <a:p>
            <a:endParaRPr lang="en-IN" sz="1600" dirty="0"/>
          </a:p>
          <a:p>
            <a:r>
              <a:rPr lang="en-IN" sz="1600" b="1" dirty="0"/>
              <a:t>“The challenge is to quickly and intelligently assign the most suitable available parking slot to each vehicle while considering size, distance, availability, and priority.”</a:t>
            </a:r>
            <a:endParaRPr lang="en-IN" sz="1600" dirty="0"/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F7151-BBA1-79D0-88A7-DAD9A808C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600" y="2336801"/>
            <a:ext cx="3638789" cy="263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latin typeface="Arial Rounded MT Bold" panose="020F0704030504030204" pitchFamily="34" charset="0"/>
                <a:cs typeface="Segoe UI Light" panose="020B0502040204020203" pitchFamily="34" charset="0"/>
              </a:rPr>
              <a:t>OUR INNOVATION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21A918-CA87-30BE-43F9-CD3F4B9EC678}"/>
              </a:ext>
            </a:extLst>
          </p:cNvPr>
          <p:cNvSpPr txBox="1"/>
          <p:nvPr/>
        </p:nvSpPr>
        <p:spPr>
          <a:xfrm>
            <a:off x="592667" y="1363133"/>
            <a:ext cx="10930467" cy="5809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Baskerville Old Face" panose="02020602080505020303" pitchFamily="18" charset="0"/>
              </a:rPr>
              <a:t>What Makes Our Solution Different</a:t>
            </a:r>
          </a:p>
          <a:p>
            <a:r>
              <a:rPr lang="en-IN" sz="2000" b="1" dirty="0">
                <a:latin typeface="Baskerville Old Face" panose="02020602080505020303" pitchFamily="18" charset="0"/>
              </a:rPr>
              <a:t>Core Idea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Baskerville Old Face" panose="02020602080505020303" pitchFamily="18" charset="0"/>
              </a:rPr>
              <a:t>An algorithm-driven parking system that intelligently finds and allocates the most suitable parking slot based on multiple factors instead of simply choosing the first available slot.</a:t>
            </a:r>
            <a:endParaRPr lang="en-IN" sz="1600" dirty="0">
              <a:latin typeface="Baskerville Old Face" panose="02020602080505020303" pitchFamily="18" charset="0"/>
            </a:endParaRPr>
          </a:p>
          <a:p>
            <a:r>
              <a:rPr lang="en-IN" sz="2000" b="1" dirty="0">
                <a:latin typeface="Baskerville Old Face" panose="02020602080505020303" pitchFamily="18" charset="0"/>
              </a:rPr>
              <a:t> Key Features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Baskerville Old Face" panose="02020602080505020303" pitchFamily="18" charset="0"/>
              </a:rPr>
              <a:t>Vehicle-size matching</a:t>
            </a:r>
            <a:r>
              <a:rPr lang="en-IN" sz="1600" dirty="0">
                <a:latin typeface="Baskerville Old Face" panose="02020602080505020303" pitchFamily="18" charset="0"/>
              </a:rPr>
              <a:t> – assigns slots suitable for the vehicle.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Baskerville Old Face" panose="02020602080505020303" pitchFamily="18" charset="0"/>
              </a:rPr>
              <a:t>Distance-based selection</a:t>
            </a:r>
            <a:r>
              <a:rPr lang="en-IN" sz="1600" dirty="0">
                <a:latin typeface="Baskerville Old Face" panose="02020602080505020303" pitchFamily="18" charset="0"/>
              </a:rPr>
              <a:t> – considers how close the slot is.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Baskerville Old Face" panose="02020602080505020303" pitchFamily="18" charset="0"/>
              </a:rPr>
              <a:t>Availability tracking</a:t>
            </a:r>
            <a:r>
              <a:rPr lang="en-IN" sz="1600" dirty="0">
                <a:latin typeface="Baskerville Old Face" panose="02020602080505020303" pitchFamily="18" charset="0"/>
              </a:rPr>
              <a:t> – identifies only currently free slots.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Baskerville Old Face" panose="02020602080505020303" pitchFamily="18" charset="0"/>
              </a:rPr>
              <a:t>Priority handling</a:t>
            </a:r>
            <a:r>
              <a:rPr lang="en-IN" sz="1600" dirty="0">
                <a:latin typeface="Baskerville Old Face" panose="02020602080505020303" pitchFamily="18" charset="0"/>
              </a:rPr>
              <a:t> – gives preference to high-priority vehicles.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Baskerville Old Face" panose="02020602080505020303" pitchFamily="18" charset="0"/>
              </a:rPr>
              <a:t>Fast searching</a:t>
            </a:r>
            <a:r>
              <a:rPr lang="en-IN" sz="1600" dirty="0">
                <a:latin typeface="Baskerville Old Face" panose="02020602080505020303" pitchFamily="18" charset="0"/>
              </a:rPr>
              <a:t> – uses Binary Search on sorted slot data.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Baskerville Old Face" panose="02020602080505020303" pitchFamily="18" charset="0"/>
              </a:rPr>
              <a:t>Priority Queue</a:t>
            </a:r>
            <a:r>
              <a:rPr lang="en-IN" sz="1600" dirty="0">
                <a:latin typeface="Baskerville Old Face" panose="02020602080505020303" pitchFamily="18" charset="0"/>
              </a:rPr>
              <a:t> – processes vehicles according to defined priority.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Baskerville Old Face" panose="02020602080505020303" pitchFamily="18" charset="0"/>
              </a:rPr>
              <a:t>Greedy allocation</a:t>
            </a:r>
            <a:r>
              <a:rPr lang="en-IN" sz="1600" dirty="0">
                <a:latin typeface="Baskerville Old Face" panose="02020602080505020303" pitchFamily="18" charset="0"/>
              </a:rPr>
              <a:t> – selects the best feasible slot at each step.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Baskerville Old Face" panose="02020602080505020303" pitchFamily="18" charset="0"/>
              </a:rPr>
              <a:t>Decision visibility</a:t>
            </a:r>
            <a:r>
              <a:rPr lang="en-IN" sz="1600" dirty="0">
                <a:latin typeface="Baskerville Old Face" panose="02020602080505020303" pitchFamily="18" charset="0"/>
              </a:rPr>
              <a:t> – displays why a particular slot was selected.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>
              <a:latin typeface="Baskerville Old Face" panose="02020602080505020303" pitchFamily="18" charset="0"/>
            </a:endParaRPr>
          </a:p>
          <a:p>
            <a:r>
              <a:rPr lang="en-IN" sz="2000" b="1" dirty="0">
                <a:latin typeface="Baskerville Old Face" panose="02020602080505020303" pitchFamily="18" charset="0"/>
              </a:rPr>
              <a:t>Unique Approach</a:t>
            </a:r>
          </a:p>
          <a:p>
            <a:r>
              <a:rPr lang="en-IN" sz="1600" b="1" dirty="0">
                <a:latin typeface="Baskerville Old Face" panose="02020602080505020303" pitchFamily="18" charset="0"/>
              </a:rPr>
              <a:t>Combines Priority Queue, Binary Search, and Greedy Strategy to make parking allocation faster, more organized, and explainable.</a:t>
            </a:r>
          </a:p>
          <a:p>
            <a:endParaRPr lang="en-IN" sz="1600" dirty="0">
              <a:latin typeface="Baskerville Old Face" panose="02020602080505020303" pitchFamily="18" charset="0"/>
            </a:endParaRPr>
          </a:p>
          <a:p>
            <a:r>
              <a:rPr lang="en-IN" sz="2400" b="1" dirty="0">
                <a:latin typeface="Baskerville Old Face" panose="02020602080505020303" pitchFamily="18" charset="0"/>
              </a:rPr>
              <a:t>“Not just finding a parking slot — finding the right slot, for the right vehicle, at the right time.”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981B57-9B9F-55D1-1C09-7FDABBFF6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1" y="2783349"/>
            <a:ext cx="3894666" cy="218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latin typeface="Arial Rounded MT Bold" panose="020F0704030504030204" pitchFamily="34" charset="0"/>
                <a:cs typeface="Segoe UI Light" panose="020B0502040204020203" pitchFamily="34" charset="0"/>
              </a:rPr>
              <a:t>HOW IT WORKS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B89BC8-7A8F-7413-887E-1A5DFD7985EA}"/>
              </a:ext>
            </a:extLst>
          </p:cNvPr>
          <p:cNvSpPr txBox="1"/>
          <p:nvPr/>
        </p:nvSpPr>
        <p:spPr>
          <a:xfrm>
            <a:off x="3029447" y="1486894"/>
            <a:ext cx="491390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Baskerville Old Face" panose="02020602080505020303" pitchFamily="18" charset="0"/>
              </a:rPr>
              <a:t>       START</a:t>
            </a:r>
          </a:p>
          <a:p>
            <a:r>
              <a:rPr lang="en-IN" sz="1600" dirty="0">
                <a:latin typeface="Baskerville Old Face" panose="02020602080505020303" pitchFamily="18" charset="0"/>
              </a:rPr>
              <a:t>          ↓</a:t>
            </a:r>
          </a:p>
          <a:p>
            <a:r>
              <a:rPr lang="en-IN" sz="1600" dirty="0">
                <a:latin typeface="Baskerville Old Face" panose="02020602080505020303" pitchFamily="18" charset="0"/>
              </a:rPr>
              <a:t>   Enter Vehicle Details</a:t>
            </a:r>
          </a:p>
          <a:p>
            <a:r>
              <a:rPr lang="en-IN" sz="1600" dirty="0">
                <a:latin typeface="Baskerville Old Face" panose="02020602080505020303" pitchFamily="18" charset="0"/>
              </a:rPr>
              <a:t>          ↓</a:t>
            </a:r>
          </a:p>
          <a:p>
            <a:r>
              <a:rPr lang="en-IN" sz="1600" dirty="0">
                <a:latin typeface="Baskerville Old Face" panose="02020602080505020303" pitchFamily="18" charset="0"/>
              </a:rPr>
              <a:t>   Check Available Slots</a:t>
            </a:r>
          </a:p>
          <a:p>
            <a:r>
              <a:rPr lang="en-IN" sz="1600" dirty="0">
                <a:latin typeface="Baskerville Old Face" panose="02020602080505020303" pitchFamily="18" charset="0"/>
              </a:rPr>
              <a:t>          ↓</a:t>
            </a:r>
          </a:p>
          <a:p>
            <a:r>
              <a:rPr lang="en-IN" sz="1600" dirty="0">
                <a:latin typeface="Baskerville Old Face" panose="02020602080505020303" pitchFamily="18" charset="0"/>
              </a:rPr>
              <a:t>  Filter by Vehicle Size</a:t>
            </a:r>
          </a:p>
          <a:p>
            <a:r>
              <a:rPr lang="en-IN" sz="1600" dirty="0">
                <a:latin typeface="Baskerville Old Face" panose="02020602080505020303" pitchFamily="18" charset="0"/>
              </a:rPr>
              <a:t>          ↓</a:t>
            </a:r>
          </a:p>
          <a:p>
            <a:r>
              <a:rPr lang="en-IN" sz="1600" dirty="0">
                <a:latin typeface="Baskerville Old Face" panose="02020602080505020303" pitchFamily="18" charset="0"/>
              </a:rPr>
              <a:t>    Priority Queue</a:t>
            </a:r>
          </a:p>
          <a:p>
            <a:r>
              <a:rPr lang="en-IN" sz="1600" dirty="0">
                <a:latin typeface="Baskerville Old Face" panose="02020602080505020303" pitchFamily="18" charset="0"/>
              </a:rPr>
              <a:t>          ↓</a:t>
            </a:r>
          </a:p>
          <a:p>
            <a:r>
              <a:rPr lang="en-IN" sz="1600" dirty="0">
                <a:latin typeface="Baskerville Old Face" panose="02020602080505020303" pitchFamily="18" charset="0"/>
              </a:rPr>
              <a:t>     Binary Search</a:t>
            </a:r>
          </a:p>
          <a:p>
            <a:r>
              <a:rPr lang="en-IN" sz="1600" dirty="0">
                <a:latin typeface="Baskerville Old Face" panose="02020602080505020303" pitchFamily="18" charset="0"/>
              </a:rPr>
              <a:t>          ↓</a:t>
            </a:r>
          </a:p>
          <a:p>
            <a:r>
              <a:rPr lang="en-IN" sz="1600" dirty="0">
                <a:latin typeface="Baskerville Old Face" panose="02020602080505020303" pitchFamily="18" charset="0"/>
              </a:rPr>
              <a:t>     Greedy Selection</a:t>
            </a:r>
          </a:p>
          <a:p>
            <a:r>
              <a:rPr lang="en-IN" sz="1600" dirty="0">
                <a:latin typeface="Baskerville Old Face" panose="02020602080505020303" pitchFamily="18" charset="0"/>
              </a:rPr>
              <a:t>          ↓</a:t>
            </a:r>
          </a:p>
          <a:p>
            <a:r>
              <a:rPr lang="en-IN" sz="1600" dirty="0">
                <a:latin typeface="Baskerville Old Face" panose="02020602080505020303" pitchFamily="18" charset="0"/>
              </a:rPr>
              <a:t>   Best Slot Identified</a:t>
            </a:r>
          </a:p>
          <a:p>
            <a:r>
              <a:rPr lang="en-IN" sz="1600" dirty="0">
                <a:latin typeface="Baskerville Old Face" panose="02020602080505020303" pitchFamily="18" charset="0"/>
              </a:rPr>
              <a:t>          ↓</a:t>
            </a:r>
          </a:p>
          <a:p>
            <a:r>
              <a:rPr lang="en-IN" sz="1600" dirty="0">
                <a:latin typeface="Baskerville Old Face" panose="02020602080505020303" pitchFamily="18" charset="0"/>
              </a:rPr>
              <a:t>   Assign Parking Slot</a:t>
            </a:r>
          </a:p>
          <a:p>
            <a:r>
              <a:rPr lang="en-IN" sz="1600" dirty="0">
                <a:latin typeface="Baskerville Old Face" panose="02020602080505020303" pitchFamily="18" charset="0"/>
              </a:rPr>
              <a:t>          ↓</a:t>
            </a:r>
          </a:p>
          <a:p>
            <a:r>
              <a:rPr lang="en-IN" sz="1600" dirty="0">
                <a:latin typeface="Baskerville Old Face" panose="02020602080505020303" pitchFamily="18" charset="0"/>
              </a:rPr>
              <a:t>   Display Result</a:t>
            </a:r>
          </a:p>
          <a:p>
            <a:r>
              <a:rPr lang="en-IN" sz="1600" dirty="0">
                <a:latin typeface="Baskerville Old Face" panose="02020602080505020303" pitchFamily="18" charset="0"/>
              </a:rPr>
              <a:t>          ↓</a:t>
            </a:r>
          </a:p>
          <a:p>
            <a:r>
              <a:rPr lang="en-IN" sz="1600" dirty="0">
                <a:latin typeface="Baskerville Old Face" panose="02020602080505020303" pitchFamily="18" charset="0"/>
              </a:rPr>
              <a:t>         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E14994-3AF7-29EE-CA39-5B83AB8079D6}"/>
              </a:ext>
            </a:extLst>
          </p:cNvPr>
          <p:cNvSpPr txBox="1"/>
          <p:nvPr/>
        </p:nvSpPr>
        <p:spPr>
          <a:xfrm>
            <a:off x="1574359" y="1264257"/>
            <a:ext cx="2194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 Rounded MT Bold" panose="020F0704030504030204" pitchFamily="34" charset="0"/>
              </a:rPr>
              <a:t>FLOW CHART: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B0BC67-1574-2BE7-D66A-E34CE2E42DEA}"/>
              </a:ext>
            </a:extLst>
          </p:cNvPr>
          <p:cNvSpPr txBox="1"/>
          <p:nvPr/>
        </p:nvSpPr>
        <p:spPr>
          <a:xfrm>
            <a:off x="6241774" y="1486894"/>
            <a:ext cx="526376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Baskerville Old Face" panose="02020602080505020303" pitchFamily="18" charset="0"/>
              </a:rPr>
              <a:t>USER JOURNEY:</a:t>
            </a:r>
          </a:p>
          <a:p>
            <a:endParaRPr lang="en-IN" b="1" dirty="0">
              <a:latin typeface="Baskerville Old Face" panose="02020602080505020303" pitchFamily="18" charset="0"/>
            </a:endParaRPr>
          </a:p>
          <a:p>
            <a:pPr marL="342900" indent="-342900">
              <a:buAutoNum type="arabicPeriod"/>
            </a:pPr>
            <a:r>
              <a:rPr lang="en-IN" b="1" dirty="0">
                <a:latin typeface="Baskerville Old Face" panose="02020602080505020303" pitchFamily="18" charset="0"/>
              </a:rPr>
              <a:t>Enter Vehicle Details</a:t>
            </a:r>
          </a:p>
          <a:p>
            <a:r>
              <a:rPr lang="en-IN" dirty="0">
                <a:latin typeface="Baskerville Old Face" panose="02020602080505020303" pitchFamily="18" charset="0"/>
              </a:rPr>
              <a:t>→ Size, priority, and entry location</a:t>
            </a:r>
          </a:p>
          <a:p>
            <a:pPr marL="342900" indent="-342900">
              <a:buAutoNum type="arabicPeriod"/>
            </a:pPr>
            <a:endParaRPr lang="en-IN" dirty="0">
              <a:latin typeface="Baskerville Old Face" panose="02020602080505020303" pitchFamily="18" charset="0"/>
            </a:endParaRPr>
          </a:p>
          <a:p>
            <a:r>
              <a:rPr lang="en-IN" b="1" dirty="0">
                <a:latin typeface="Baskerville Old Face" panose="02020602080505020303" pitchFamily="18" charset="0"/>
              </a:rPr>
              <a:t>2.   System Checks Slots</a:t>
            </a:r>
            <a:br>
              <a:rPr lang="en-IN" dirty="0">
                <a:latin typeface="Baskerville Old Face" panose="02020602080505020303" pitchFamily="18" charset="0"/>
              </a:rPr>
            </a:br>
            <a:r>
              <a:rPr lang="en-IN" dirty="0">
                <a:latin typeface="Baskerville Old Face" panose="02020602080505020303" pitchFamily="18" charset="0"/>
              </a:rPr>
              <a:t>→ Identifies available and suitable slots</a:t>
            </a:r>
          </a:p>
          <a:p>
            <a:endParaRPr lang="en-IN" dirty="0">
              <a:latin typeface="Baskerville Old Face" panose="02020602080505020303" pitchFamily="18" charset="0"/>
            </a:endParaRPr>
          </a:p>
          <a:p>
            <a:r>
              <a:rPr lang="en-IN" b="1" dirty="0">
                <a:latin typeface="Baskerville Old Face" panose="02020602080505020303" pitchFamily="18" charset="0"/>
              </a:rPr>
              <a:t>3.   Algorithms Process the Data</a:t>
            </a:r>
            <a:br>
              <a:rPr lang="en-IN" dirty="0">
                <a:latin typeface="Baskerville Old Face" panose="02020602080505020303" pitchFamily="18" charset="0"/>
              </a:rPr>
            </a:br>
            <a:r>
              <a:rPr lang="en-IN" dirty="0">
                <a:latin typeface="Baskerville Old Face" panose="02020602080505020303" pitchFamily="18" charset="0"/>
              </a:rPr>
              <a:t>→ Priority Queue + Binary Search + Greedy</a:t>
            </a:r>
          </a:p>
          <a:p>
            <a:endParaRPr lang="en-IN" dirty="0">
              <a:latin typeface="Baskerville Old Face" panose="02020602080505020303" pitchFamily="18" charset="0"/>
            </a:endParaRPr>
          </a:p>
          <a:p>
            <a:r>
              <a:rPr lang="en-IN" b="1" dirty="0">
                <a:latin typeface="Baskerville Old Face" panose="02020602080505020303" pitchFamily="18" charset="0"/>
              </a:rPr>
              <a:t>4.   Best Slot is Selected</a:t>
            </a:r>
            <a:br>
              <a:rPr lang="en-IN" dirty="0">
                <a:latin typeface="Baskerville Old Face" panose="02020602080505020303" pitchFamily="18" charset="0"/>
              </a:rPr>
            </a:br>
            <a:r>
              <a:rPr lang="en-IN" dirty="0">
                <a:latin typeface="Baskerville Old Face" panose="02020602080505020303" pitchFamily="18" charset="0"/>
              </a:rPr>
              <a:t>→ Based on size, distance, availability, and priority</a:t>
            </a:r>
          </a:p>
          <a:p>
            <a:endParaRPr lang="en-IN" dirty="0">
              <a:latin typeface="Baskerville Old Face" panose="02020602080505020303" pitchFamily="18" charset="0"/>
            </a:endParaRPr>
          </a:p>
          <a:p>
            <a:r>
              <a:rPr lang="en-IN" b="1" dirty="0">
                <a:latin typeface="Baskerville Old Face" panose="02020602080505020303" pitchFamily="18" charset="0"/>
              </a:rPr>
              <a:t>5.   User Gets the Result</a:t>
            </a:r>
            <a:br>
              <a:rPr lang="en-IN" dirty="0">
                <a:latin typeface="Baskerville Old Face" panose="02020602080505020303" pitchFamily="18" charset="0"/>
              </a:rPr>
            </a:br>
            <a:r>
              <a:rPr lang="en-IN" dirty="0">
                <a:latin typeface="Baskerville Old Face" panose="02020602080505020303" pitchFamily="18" charset="0"/>
              </a:rPr>
              <a:t>→ </a:t>
            </a:r>
            <a:r>
              <a:rPr lang="en-IN" b="1" dirty="0">
                <a:latin typeface="Baskerville Old Face" panose="02020602080505020303" pitchFamily="18" charset="0"/>
              </a:rPr>
              <a:t>“Slot A12 assigned – 25 m from entrance.”</a:t>
            </a:r>
            <a:endParaRPr lang="en-IN" dirty="0">
              <a:latin typeface="Baskerville Old Face" panose="02020602080505020303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2E4D11-3A6C-DE8A-18FF-97A20AC3C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926807" cy="640080"/>
          </a:xfrm>
        </p:spPr>
        <p:txBody>
          <a:bodyPr>
            <a:noAutofit/>
          </a:bodyPr>
          <a:lstStyle/>
          <a:p>
            <a:r>
              <a:rPr lang="en-IN" sz="4400" dirty="0">
                <a:latin typeface="Arial Rounded MT Bold" panose="020F0704030504030204" pitchFamily="34" charset="0"/>
              </a:rPr>
              <a:t>TECHNOLOGY AND 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2F2C66-97B6-F467-E88C-88DF63B53A3D}"/>
              </a:ext>
            </a:extLst>
          </p:cNvPr>
          <p:cNvSpPr txBox="1"/>
          <p:nvPr/>
        </p:nvSpPr>
        <p:spPr>
          <a:xfrm>
            <a:off x="659958" y="1614116"/>
            <a:ext cx="5160397" cy="4245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FBA1FF4-4F43-569A-524D-8BDE091E7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873940"/>
              </p:ext>
            </p:extLst>
          </p:nvPr>
        </p:nvGraphicFramePr>
        <p:xfrm>
          <a:off x="771276" y="2014225"/>
          <a:ext cx="4416424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8212">
                  <a:extLst>
                    <a:ext uri="{9D8B030D-6E8A-4147-A177-3AD203B41FA5}">
                      <a16:colId xmlns:a16="http://schemas.microsoft.com/office/drawing/2014/main" val="315816241"/>
                    </a:ext>
                  </a:extLst>
                </a:gridCol>
                <a:gridCol w="2208212">
                  <a:extLst>
                    <a:ext uri="{9D8B030D-6E8A-4147-A177-3AD203B41FA5}">
                      <a16:colId xmlns:a16="http://schemas.microsoft.com/office/drawing/2014/main" val="229408906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0586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HTML, CSS, JavaScript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900075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Backend /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31271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Data Structures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Arrays/Lists, Priority Queue, Sorted Lists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1069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Algorithms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Priority Queue, Binary Search, Greedy Strategy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4556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Development 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VS Code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1537487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11EBD9F4-AE45-D70F-FA92-5DE5B69022A0}"/>
              </a:ext>
            </a:extLst>
          </p:cNvPr>
          <p:cNvSpPr txBox="1"/>
          <p:nvPr/>
        </p:nvSpPr>
        <p:spPr>
          <a:xfrm>
            <a:off x="771276" y="1429448"/>
            <a:ext cx="3800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rial Rounded MT Bold" panose="020F0704030504030204" pitchFamily="34" charset="0"/>
              </a:rPr>
              <a:t>TECH STACK</a:t>
            </a:r>
            <a:r>
              <a:rPr lang="en-IN" dirty="0"/>
              <a:t>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EDC3C6-225F-ED34-2B1C-DFA981BB76FD}"/>
              </a:ext>
            </a:extLst>
          </p:cNvPr>
          <p:cNvSpPr txBox="1"/>
          <p:nvPr/>
        </p:nvSpPr>
        <p:spPr>
          <a:xfrm>
            <a:off x="5931673" y="1924216"/>
            <a:ext cx="612250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Baskerville Old Face" panose="02020602080505020303" pitchFamily="18" charset="0"/>
              </a:rPr>
              <a:t>Main Algorithms</a:t>
            </a:r>
          </a:p>
          <a:p>
            <a:endParaRPr lang="en-IN" sz="2000" b="1" dirty="0">
              <a:latin typeface="Baskerville Old Face" panose="02020602080505020303" pitchFamily="18" charset="0"/>
            </a:endParaRPr>
          </a:p>
          <a:p>
            <a:r>
              <a:rPr lang="en-IN" sz="2000" b="1" dirty="0">
                <a:latin typeface="Baskerville Old Face" panose="02020602080505020303" pitchFamily="18" charset="0"/>
              </a:rPr>
              <a:t>1. Priority Queue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askerville Old Face" panose="02020602080505020303" pitchFamily="18" charset="0"/>
              </a:rPr>
              <a:t>Selects the vehicle with the </a:t>
            </a:r>
            <a:r>
              <a:rPr lang="en-IN" sz="2000" b="1" dirty="0">
                <a:latin typeface="Baskerville Old Face" panose="02020602080505020303" pitchFamily="18" charset="0"/>
              </a:rPr>
              <a:t>highest priority</a:t>
            </a:r>
            <a:r>
              <a:rPr lang="en-IN" sz="2000" dirty="0">
                <a:latin typeface="Baskerville Old Face" panose="02020602080505020303" pitchFamily="18" charset="0"/>
              </a:rPr>
              <a:t> first.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askerville Old Face" panose="02020602080505020303" pitchFamily="18" charset="0"/>
              </a:rPr>
              <a:t>Useful when multiple vehicles are waiting for parking. </a:t>
            </a:r>
          </a:p>
          <a:p>
            <a:r>
              <a:rPr lang="en-IN" sz="2000" b="1" dirty="0">
                <a:latin typeface="Baskerville Old Face" panose="02020602080505020303" pitchFamily="18" charset="0"/>
              </a:rPr>
              <a:t>2. Binary Search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askerville Old Face" panose="02020602080505020303" pitchFamily="18" charset="0"/>
              </a:rPr>
              <a:t>Searches sorted parking-slot data efficiently.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askerville Old Face" panose="02020602080505020303" pitchFamily="18" charset="0"/>
              </a:rPr>
              <a:t>Quickly finds slots based on criteria such as distance or size. </a:t>
            </a:r>
          </a:p>
          <a:p>
            <a:r>
              <a:rPr lang="en-IN" sz="2000" b="1" dirty="0">
                <a:latin typeface="Baskerville Old Face" panose="02020602080505020303" pitchFamily="18" charset="0"/>
              </a:rPr>
              <a:t>3. Greedy Strategy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askerville Old Face" panose="02020602080505020303" pitchFamily="18" charset="0"/>
              </a:rPr>
              <a:t>Selects the </a:t>
            </a:r>
            <a:r>
              <a:rPr lang="en-IN" sz="2000" b="1" dirty="0">
                <a:latin typeface="Baskerville Old Face" panose="02020602080505020303" pitchFamily="18" charset="0"/>
              </a:rPr>
              <a:t>best currently available slot</a:t>
            </a:r>
            <a:r>
              <a:rPr lang="en-IN" sz="2000" dirty="0">
                <a:latin typeface="Baskerville Old Face" panose="02020602080505020303" pitchFamily="18" charset="0"/>
              </a:rPr>
              <a:t> according to a defined rule.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4784B1-D9EB-FE90-9687-CFE965E61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latin typeface="Arial Rounded MT Bold" panose="020F0704030504030204" pitchFamily="34" charset="0"/>
              </a:rPr>
              <a:t>DEMO &amp; IMPACT</a:t>
            </a:r>
            <a:endParaRPr lang="en-IN" sz="4400" dirty="0">
              <a:latin typeface="Arial Rounded MT Bold" panose="020F07040305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F41167-7DC1-0EF3-95A5-824282F32E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88" t="17719" r="26485" b="18317"/>
          <a:stretch>
            <a:fillRect/>
          </a:stretch>
        </p:blipFill>
        <p:spPr>
          <a:xfrm>
            <a:off x="506359" y="1688841"/>
            <a:ext cx="2174033" cy="19874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F50295-349E-F7D1-D0E5-9821513EEA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039" t="14193" r="1594" b="7027"/>
          <a:stretch>
            <a:fillRect/>
          </a:stretch>
        </p:blipFill>
        <p:spPr>
          <a:xfrm>
            <a:off x="3087462" y="1688841"/>
            <a:ext cx="4460032" cy="19874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FABDD30-AE3B-17AB-9568-CB3E3E7092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29" t="18296" r="7254" b="5403"/>
          <a:stretch>
            <a:fillRect/>
          </a:stretch>
        </p:blipFill>
        <p:spPr>
          <a:xfrm>
            <a:off x="1405812" y="4049392"/>
            <a:ext cx="4043266" cy="19874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3C2EB5F-A97F-87DF-112B-95805C9BAD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07" t="14743" r="1651" b="6435"/>
          <a:stretch>
            <a:fillRect/>
          </a:stretch>
        </p:blipFill>
        <p:spPr>
          <a:xfrm>
            <a:off x="7872112" y="1688841"/>
            <a:ext cx="3633009" cy="195961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14E85BB-FB0E-8B01-B915-902AD588929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08" t="13733" r="4195" b="5071"/>
          <a:stretch>
            <a:fillRect/>
          </a:stretch>
        </p:blipFill>
        <p:spPr>
          <a:xfrm>
            <a:off x="7085629" y="4021586"/>
            <a:ext cx="4152123" cy="201522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4AFB968-3D89-EFE1-773D-023DC085BE9B}"/>
              </a:ext>
            </a:extLst>
          </p:cNvPr>
          <p:cNvSpPr txBox="1"/>
          <p:nvPr/>
        </p:nvSpPr>
        <p:spPr>
          <a:xfrm>
            <a:off x="615820" y="1315709"/>
            <a:ext cx="1688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</a:rPr>
              <a:t>LOGIN</a:t>
            </a:r>
            <a:endParaRPr lang="en-IN" sz="1600" b="1" dirty="0">
              <a:latin typeface="Arial Rounded MT Bold" panose="020F07040305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E8FA64-5631-ADDA-A54D-3F1E849A37D7}"/>
              </a:ext>
            </a:extLst>
          </p:cNvPr>
          <p:cNvSpPr txBox="1"/>
          <p:nvPr/>
        </p:nvSpPr>
        <p:spPr>
          <a:xfrm>
            <a:off x="3275045" y="1274748"/>
            <a:ext cx="41455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</a:rPr>
              <a:t>BIKE SLOT ALLOCATION IN PROCESS</a:t>
            </a:r>
            <a:endParaRPr lang="en-IN" sz="1600" b="1" dirty="0">
              <a:latin typeface="Arial Rounded MT Bold" panose="020F07040305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138F89-1DA4-DEB7-D254-B07732EC4471}"/>
              </a:ext>
            </a:extLst>
          </p:cNvPr>
          <p:cNvSpPr txBox="1"/>
          <p:nvPr/>
        </p:nvSpPr>
        <p:spPr>
          <a:xfrm>
            <a:off x="7987004" y="1274748"/>
            <a:ext cx="3518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</a:rPr>
              <a:t>BIKE SLOT ALLOCATED</a:t>
            </a:r>
            <a:endParaRPr lang="en-IN" sz="1600" b="1" dirty="0">
              <a:latin typeface="Arial Rounded MT Bold" panose="020F07040305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74DB09-25D2-EB60-25FF-3E3B02EE610B}"/>
              </a:ext>
            </a:extLst>
          </p:cNvPr>
          <p:cNvSpPr txBox="1"/>
          <p:nvPr/>
        </p:nvSpPr>
        <p:spPr>
          <a:xfrm>
            <a:off x="1405812" y="6150632"/>
            <a:ext cx="4043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</a:rPr>
              <a:t>CAR SLOT ALLOCATION IN PROCESS</a:t>
            </a:r>
            <a:endParaRPr lang="en-IN" sz="1600" b="1" dirty="0">
              <a:latin typeface="Arial Rounded MT Bold" panose="020F07040305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B644BA-7170-6231-017B-F3BFF16920E7}"/>
              </a:ext>
            </a:extLst>
          </p:cNvPr>
          <p:cNvSpPr txBox="1"/>
          <p:nvPr/>
        </p:nvSpPr>
        <p:spPr>
          <a:xfrm>
            <a:off x="7724429" y="6119854"/>
            <a:ext cx="4043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</a:rPr>
              <a:t>CAR SLOT ALLOCATED</a:t>
            </a:r>
            <a:endParaRPr lang="en-IN" sz="16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63F0179-0D81-4319-A997-6C2D5A43B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latin typeface="Arial Rounded MT Bold" panose="020F0704030504030204" pitchFamily="34" charset="0"/>
              </a:rPr>
              <a:t>FUTURE VISION</a:t>
            </a:r>
            <a:endParaRPr lang="en-IN" sz="4400" dirty="0">
              <a:latin typeface="Arial Rounded MT Bold" panose="020F07040305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C9B062-004C-4724-E36B-4ABF288512C9}"/>
              </a:ext>
            </a:extLst>
          </p:cNvPr>
          <p:cNvSpPr txBox="1"/>
          <p:nvPr/>
        </p:nvSpPr>
        <p:spPr>
          <a:xfrm>
            <a:off x="521207" y="1343609"/>
            <a:ext cx="1119804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Baskerville Old Face" panose="02020602080505020303" pitchFamily="18" charset="0"/>
              </a:rPr>
              <a:t>Current Achievement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skerville Old Face" panose="02020602080505020303" pitchFamily="18" charset="0"/>
              </a:rPr>
              <a:t>Successfully developed a smart parking slot allocation prototype.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skerville Old Face" panose="02020602080505020303" pitchFamily="18" charset="0"/>
              </a:rPr>
              <a:t>Uses </a:t>
            </a:r>
            <a:r>
              <a:rPr lang="en-IN" b="1" dirty="0">
                <a:latin typeface="Baskerville Old Face" panose="02020602080505020303" pitchFamily="18" charset="0"/>
              </a:rPr>
              <a:t>Priority Queue</a:t>
            </a:r>
            <a:r>
              <a:rPr lang="en-IN" dirty="0">
                <a:latin typeface="Baskerville Old Face" panose="02020602080505020303" pitchFamily="18" charset="0"/>
              </a:rPr>
              <a:t> to handle vehicles based on priority.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skerville Old Face" panose="02020602080505020303" pitchFamily="18" charset="0"/>
              </a:rPr>
              <a:t>Uses </a:t>
            </a:r>
            <a:r>
              <a:rPr lang="en-IN" b="1" dirty="0">
                <a:latin typeface="Baskerville Old Face" panose="02020602080505020303" pitchFamily="18" charset="0"/>
              </a:rPr>
              <a:t>Binary Search</a:t>
            </a:r>
            <a:r>
              <a:rPr lang="en-IN" dirty="0">
                <a:latin typeface="Baskerville Old Face" panose="02020602080505020303" pitchFamily="18" charset="0"/>
              </a:rPr>
              <a:t> for faster slot searching.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skerville Old Face" panose="02020602080505020303" pitchFamily="18" charset="0"/>
              </a:rPr>
              <a:t>Uses a </a:t>
            </a:r>
            <a:r>
              <a:rPr lang="en-IN" b="1" dirty="0">
                <a:latin typeface="Baskerville Old Face" panose="02020602080505020303" pitchFamily="18" charset="0"/>
              </a:rPr>
              <a:t>Greedy approach</a:t>
            </a:r>
            <a:r>
              <a:rPr lang="en-IN" dirty="0">
                <a:latin typeface="Baskerville Old Face" panose="02020602080505020303" pitchFamily="18" charset="0"/>
              </a:rPr>
              <a:t> to select the nearest suitable slot.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skerville Old Face" panose="02020602080505020303" pitchFamily="18" charset="0"/>
              </a:rPr>
              <a:t>Displays allocation decisions, search steps, and total parking distance.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Baskerville Old Face" panose="02020602080505020303" pitchFamily="18" charset="0"/>
            </a:endParaRPr>
          </a:p>
          <a:p>
            <a:r>
              <a:rPr lang="en-IN" b="1" dirty="0">
                <a:latin typeface="Baskerville Old Face" panose="02020602080505020303" pitchFamily="18" charset="0"/>
              </a:rPr>
              <a:t>Future Improvements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skerville Old Face" panose="02020602080505020303" pitchFamily="18" charset="0"/>
              </a:rPr>
              <a:t>Add </a:t>
            </a:r>
            <a:r>
              <a:rPr lang="en-IN" b="1" dirty="0">
                <a:latin typeface="Baskerville Old Face" panose="02020602080505020303" pitchFamily="18" charset="0"/>
              </a:rPr>
              <a:t>real-time parking availability</a:t>
            </a:r>
            <a:r>
              <a:rPr lang="en-IN" dirty="0">
                <a:latin typeface="Baskerville Old Face" panose="02020602080505020303" pitchFamily="18" charset="0"/>
              </a:rPr>
              <a:t> using IoT sensors.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skerville Old Face" panose="02020602080505020303" pitchFamily="18" charset="0"/>
              </a:rPr>
              <a:t>Integrate </a:t>
            </a:r>
            <a:r>
              <a:rPr lang="en-IN" b="1" dirty="0">
                <a:latin typeface="Baskerville Old Face" panose="02020602080505020303" pitchFamily="18" charset="0"/>
              </a:rPr>
              <a:t>GPS and navigation</a:t>
            </a:r>
            <a:r>
              <a:rPr lang="en-IN" dirty="0">
                <a:latin typeface="Baskerville Old Face" panose="02020602080505020303" pitchFamily="18" charset="0"/>
              </a:rPr>
              <a:t> for route guidance.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skerville Old Face" panose="02020602080505020303" pitchFamily="18" charset="0"/>
              </a:rPr>
              <a:t>Support </a:t>
            </a:r>
            <a:r>
              <a:rPr lang="en-IN" b="1" dirty="0">
                <a:latin typeface="Baskerville Old Face" panose="02020602080505020303" pitchFamily="18" charset="0"/>
              </a:rPr>
              <a:t>online parking reservations</a:t>
            </a:r>
            <a:r>
              <a:rPr lang="en-IN" dirty="0">
                <a:latin typeface="Baskerville Old Face" panose="02020602080505020303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skerville Old Face" panose="02020602080505020303" pitchFamily="18" charset="0"/>
              </a:rPr>
              <a:t>Add </a:t>
            </a:r>
            <a:r>
              <a:rPr lang="en-IN" b="1" dirty="0">
                <a:latin typeface="Baskerville Old Face" panose="02020602080505020303" pitchFamily="18" charset="0"/>
              </a:rPr>
              <a:t>dynamic pricing</a:t>
            </a:r>
            <a:r>
              <a:rPr lang="en-IN" dirty="0">
                <a:latin typeface="Baskerville Old Face" panose="02020602080505020303" pitchFamily="18" charset="0"/>
              </a:rPr>
              <a:t> based on demand and availability.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skerville Old Face" panose="02020602080505020303" pitchFamily="18" charset="0"/>
              </a:rPr>
              <a:t>Use machine learning to predict parking demand..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Baskerville Old Face" panose="02020602080505020303" pitchFamily="18" charset="0"/>
            </a:endParaRPr>
          </a:p>
          <a:p>
            <a:r>
              <a:rPr lang="en-IN" b="1" dirty="0">
                <a:latin typeface="Baskerville Old Face" panose="02020602080505020303" pitchFamily="18" charset="0"/>
              </a:rPr>
              <a:t>Final Takeaway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skerville Old Face" panose="02020602080505020303" pitchFamily="18" charset="0"/>
              </a:rPr>
              <a:t>Smart Parking Slot Allocator provides </a:t>
            </a:r>
            <a:r>
              <a:rPr lang="en-IN" b="1" dirty="0">
                <a:latin typeface="Baskerville Old Face" panose="02020602080505020303" pitchFamily="18" charset="0"/>
              </a:rPr>
              <a:t>fast and systematic parking allocation</a:t>
            </a:r>
            <a:r>
              <a:rPr lang="en-IN" dirty="0">
                <a:latin typeface="Baskerville Old Face" panose="02020602080505020303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skerville Old Face" panose="02020602080505020303" pitchFamily="18" charset="0"/>
              </a:rPr>
              <a:t>Combines </a:t>
            </a:r>
            <a:r>
              <a:rPr lang="en-IN" b="1" dirty="0">
                <a:latin typeface="Baskerville Old Face" panose="02020602080505020303" pitchFamily="18" charset="0"/>
              </a:rPr>
              <a:t>Priority Queue, Binary Search, and Greedy algorithms</a:t>
            </a:r>
            <a:r>
              <a:rPr lang="en-IN" dirty="0">
                <a:latin typeface="Baskerville Old Face" panose="02020602080505020303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skerville Old Face" panose="02020602080505020303" pitchFamily="18" charset="0"/>
              </a:rPr>
              <a:t>Reduces parking search time and improves slot utilization.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skerville Old Face" panose="02020602080505020303" pitchFamily="18" charset="0"/>
              </a:rPr>
              <a:t>The approach can be expanded into a </a:t>
            </a:r>
            <a:r>
              <a:rPr lang="en-IN" b="1" dirty="0">
                <a:latin typeface="Baskerville Old Face" panose="02020602080505020303" pitchFamily="18" charset="0"/>
              </a:rPr>
              <a:t>real-world intelligent parking system</a:t>
            </a:r>
            <a:r>
              <a:rPr lang="en-IN" dirty="0">
                <a:latin typeface="Baskerville Old Face" panose="02020602080505020303" pitchFamily="18" charset="0"/>
              </a:rPr>
              <a:t>.</a:t>
            </a: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718F5C6-D99C-CC6A-AC3D-1C79A56FD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797" y="1502229"/>
            <a:ext cx="3445523" cy="20905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C0A0A3-5595-BA56-EF2E-949A3E082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798" y="4081023"/>
            <a:ext cx="3445523" cy="229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6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{7BFFF9BD-67E6-4F9E-9D75-343BCFA230F8}TF2989475c-5427-4edb-9ec1-00f4ce72165b77c8433f_win32-c33c42577f73</Template>
  <TotalTime>113</TotalTime>
  <Words>881</Words>
  <Application>Microsoft Office PowerPoint</Application>
  <PresentationFormat>Widescreen</PresentationFormat>
  <Paragraphs>144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Rounded MT Bold</vt:lpstr>
      <vt:lpstr>Baskerville Old Face</vt:lpstr>
      <vt:lpstr>Calibri</vt:lpstr>
      <vt:lpstr>Segoe UI</vt:lpstr>
      <vt:lpstr>Segoe UI Light</vt:lpstr>
      <vt:lpstr>Custom</vt:lpstr>
      <vt:lpstr>PowerPoint Presentation</vt:lpstr>
      <vt:lpstr>THE CHALLENGE</vt:lpstr>
      <vt:lpstr>OUR INNOVATION</vt:lpstr>
      <vt:lpstr>HOW IT WORKS</vt:lpstr>
      <vt:lpstr>TECHNOLOGY AND ALGORITHM</vt:lpstr>
      <vt:lpstr>DEMO &amp; IMPACT</vt:lpstr>
      <vt:lpstr>FUTURE VISION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Akshitha Reddy Borugula</dc:creator>
  <cp:keywords/>
  <cp:lastModifiedBy>Mayuri Vittamsetti</cp:lastModifiedBy>
  <cp:revision>2</cp:revision>
  <dcterms:created xsi:type="dcterms:W3CDTF">2026-10-03T05:03:19Z</dcterms:created>
  <dcterms:modified xsi:type="dcterms:W3CDTF">2026-10-03T08:30:22Z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